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embeddedFontLs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enturyGothic-bold.fntdata"/><Relationship Id="rId14" Type="http://schemas.openxmlformats.org/officeDocument/2006/relationships/slide" Target="slides/slide9.xml"/><Relationship Id="rId36" Type="http://schemas.openxmlformats.org/officeDocument/2006/relationships/font" Target="fonts/CenturyGothic-regular.fntdata"/><Relationship Id="rId17" Type="http://schemas.openxmlformats.org/officeDocument/2006/relationships/slide" Target="slides/slide12.xml"/><Relationship Id="rId39" Type="http://schemas.openxmlformats.org/officeDocument/2006/relationships/font" Target="fonts/CenturyGothic-boldItalic.fntdata"/><Relationship Id="rId16" Type="http://schemas.openxmlformats.org/officeDocument/2006/relationships/slide" Target="slides/slide11.xml"/><Relationship Id="rId38" Type="http://schemas.openxmlformats.org/officeDocument/2006/relationships/font" Target="fonts/CenturyGothic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2" name="Google Shape;2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65" name="Google Shape;2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17" name="Google Shape;3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43" name="Google Shape;3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56" name="Google Shape;3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69" name="Google Shape;36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82" name="Google Shape;3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421" name="Google Shape;42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434" name="Google Shape;43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30" name="Google Shape;30;p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7" name="Google Shape;37;p3"/>
          <p:cNvSpPr txBox="1"/>
          <p:nvPr>
            <p:ph type="ctrTitle"/>
          </p:nvPr>
        </p:nvSpPr>
        <p:spPr>
          <a:xfrm>
            <a:off x="866216" y="2099733"/>
            <a:ext cx="6619200" cy="26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866216" y="4777380"/>
            <a:ext cx="66192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10" type="dt"/>
          </p:nvPr>
        </p:nvSpPr>
        <p:spPr>
          <a:xfrm rot="5400000">
            <a:off x="7443217" y="1830323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1" type="ftr"/>
          </p:nvPr>
        </p:nvSpPr>
        <p:spPr>
          <a:xfrm rot="5400000">
            <a:off x="6237218" y="3264923"/>
            <a:ext cx="385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 txBox="1"/>
          <p:nvPr>
            <p:ph idx="12" type="sldNum"/>
          </p:nvPr>
        </p:nvSpPr>
        <p:spPr>
          <a:xfrm>
            <a:off x="7763256" y="292608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6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55" name="Google Shape;55;p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7289800" y="402165"/>
              <a:ext cx="44790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 rot="-5677505">
              <a:off x="4698346" y="1826074"/>
              <a:ext cx="3299419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 rot="-5400000">
              <a:off x="3787243" y="2801717"/>
              <a:ext cx="6053675" cy="1254560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64" name="Google Shape;64;p6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65" name="Google Shape;65;p6"/>
          <p:cNvSpPr txBox="1"/>
          <p:nvPr>
            <p:ph type="title"/>
          </p:nvPr>
        </p:nvSpPr>
        <p:spPr>
          <a:xfrm>
            <a:off x="866217" y="2677645"/>
            <a:ext cx="32634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5171669" y="2677644"/>
            <a:ext cx="28164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" type="body"/>
          </p:nvPr>
        </p:nvSpPr>
        <p:spPr>
          <a:xfrm>
            <a:off x="866215" y="2603500"/>
            <a:ext cx="3618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2" type="body"/>
          </p:nvPr>
        </p:nvSpPr>
        <p:spPr>
          <a:xfrm>
            <a:off x="4656534" y="2603500"/>
            <a:ext cx="3618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66215" y="2603500"/>
            <a:ext cx="36189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81" name="Google Shape;81;p8"/>
          <p:cNvSpPr txBox="1"/>
          <p:nvPr>
            <p:ph idx="2" type="body"/>
          </p:nvPr>
        </p:nvSpPr>
        <p:spPr>
          <a:xfrm>
            <a:off x="866215" y="3179762"/>
            <a:ext cx="3618900" cy="28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3" type="body"/>
          </p:nvPr>
        </p:nvSpPr>
        <p:spPr>
          <a:xfrm>
            <a:off x="4656534" y="2603500"/>
            <a:ext cx="36189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83" name="Google Shape;83;p8"/>
          <p:cNvSpPr txBox="1"/>
          <p:nvPr>
            <p:ph idx="4" type="body"/>
          </p:nvPr>
        </p:nvSpPr>
        <p:spPr>
          <a:xfrm>
            <a:off x="4656533" y="3179762"/>
            <a:ext cx="3618900" cy="28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9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89" name="Google Shape;89;p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5713412" y="402165"/>
              <a:ext cx="60552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9"/>
            <p:cNvSpPr/>
            <p:nvPr/>
          </p:nvSpPr>
          <p:spPr>
            <a:xfrm rot="-5677505">
              <a:off x="3140479" y="1826074"/>
              <a:ext cx="3299419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9"/>
            <p:cNvSpPr/>
            <p:nvPr/>
          </p:nvSpPr>
          <p:spPr>
            <a:xfrm rot="-5400000">
              <a:off x="2229376" y="2801718"/>
              <a:ext cx="6053675" cy="1254560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8" name="Google Shape;98;p9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9" name="Google Shape;99;p9"/>
          <p:cNvSpPr txBox="1"/>
          <p:nvPr>
            <p:ph type="title"/>
          </p:nvPr>
        </p:nvSpPr>
        <p:spPr>
          <a:xfrm>
            <a:off x="866215" y="1295400"/>
            <a:ext cx="2094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" type="body"/>
          </p:nvPr>
        </p:nvSpPr>
        <p:spPr>
          <a:xfrm>
            <a:off x="4335860" y="1447800"/>
            <a:ext cx="3892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66216" y="2895600"/>
            <a:ext cx="20949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2" name="Google Shape;102;p9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108" name="Google Shape;108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6172200" y="402165"/>
              <a:ext cx="55965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0"/>
            <p:cNvSpPr/>
            <p:nvPr/>
          </p:nvSpPr>
          <p:spPr>
            <a:xfrm rot="-5400000">
              <a:off x="3295431" y="2801718"/>
              <a:ext cx="6053675" cy="1254560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6" name="Google Shape;116;p10"/>
            <p:cNvSpPr/>
            <p:nvPr/>
          </p:nvSpPr>
          <p:spPr>
            <a:xfrm rot="-5677505">
              <a:off x="4203588" y="1826074"/>
              <a:ext cx="3299419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8" name="Google Shape;118;p10"/>
          <p:cNvSpPr txBox="1"/>
          <p:nvPr>
            <p:ph type="title"/>
          </p:nvPr>
        </p:nvSpPr>
        <p:spPr>
          <a:xfrm>
            <a:off x="865430" y="1693332"/>
            <a:ext cx="28953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/>
          <p:nvPr>
            <p:ph idx="2" type="pic"/>
          </p:nvPr>
        </p:nvSpPr>
        <p:spPr>
          <a:xfrm>
            <a:off x="4910903" y="1143000"/>
            <a:ext cx="242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866216" y="3657600"/>
            <a:ext cx="2894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1" name="Google Shape;121;p10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0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0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1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127" name="Google Shape;127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1"/>
            <p:cNvSpPr/>
            <p:nvPr/>
          </p:nvSpPr>
          <p:spPr>
            <a:xfrm rot="10371517">
              <a:off x="263779" y="4438261"/>
              <a:ext cx="3299395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1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5" name="Google Shape;135;p11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6" name="Google Shape;136;p11"/>
          <p:cNvSpPr txBox="1"/>
          <p:nvPr>
            <p:ph type="title"/>
          </p:nvPr>
        </p:nvSpPr>
        <p:spPr>
          <a:xfrm>
            <a:off x="866217" y="4966674"/>
            <a:ext cx="661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1"/>
          <p:cNvSpPr/>
          <p:nvPr>
            <p:ph idx="2" type="pic"/>
          </p:nvPr>
        </p:nvSpPr>
        <p:spPr>
          <a:xfrm>
            <a:off x="866216" y="685800"/>
            <a:ext cx="6619200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866217" y="5536665"/>
            <a:ext cx="6619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9" name="Google Shape;139;p11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2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145" name="Google Shape;145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2"/>
            <p:cNvSpPr/>
            <p:nvPr/>
          </p:nvSpPr>
          <p:spPr>
            <a:xfrm rot="-589939">
              <a:off x="8490949" y="2714870"/>
              <a:ext cx="3299413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2"/>
            <p:cNvSpPr/>
            <p:nvPr/>
          </p:nvSpPr>
          <p:spPr>
            <a:xfrm>
              <a:off x="455612" y="2801319"/>
              <a:ext cx="11277600" cy="3602637"/>
            </a:xfrm>
            <a:custGeom>
              <a:rect b="b" l="l" r="r" t="t"/>
              <a:pathLst>
                <a:path extrusionOk="0" h="7946" w="1000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3" name="Google Shape;153;p12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4" name="Google Shape;154;p12"/>
          <p:cNvSpPr txBox="1"/>
          <p:nvPr>
            <p:ph type="title"/>
          </p:nvPr>
        </p:nvSpPr>
        <p:spPr>
          <a:xfrm>
            <a:off x="866215" y="1063416"/>
            <a:ext cx="66192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66215" y="3543300"/>
            <a:ext cx="66192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6" name="Google Shape;156;p12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2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2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3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3"/>
            <p:cNvSpPr/>
            <p:nvPr/>
          </p:nvSpPr>
          <p:spPr>
            <a:xfrm rot="-589939">
              <a:off x="8490949" y="4185113"/>
              <a:ext cx="3299413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455612" y="4241801"/>
              <a:ext cx="11277600" cy="2337160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0" name="Google Shape;170;p13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1" name="Google Shape;171;p13"/>
          <p:cNvSpPr txBox="1"/>
          <p:nvPr/>
        </p:nvSpPr>
        <p:spPr>
          <a:xfrm>
            <a:off x="7289579" y="2631815"/>
            <a:ext cx="60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9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673721" y="591093"/>
            <a:ext cx="60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9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 txBox="1"/>
          <p:nvPr>
            <p:ph type="title"/>
          </p:nvPr>
        </p:nvSpPr>
        <p:spPr>
          <a:xfrm>
            <a:off x="1186409" y="980517"/>
            <a:ext cx="63405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1459459" y="3678766"/>
            <a:ext cx="5794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5" name="Google Shape;175;p13"/>
          <p:cNvSpPr txBox="1"/>
          <p:nvPr>
            <p:ph idx="2" type="body"/>
          </p:nvPr>
        </p:nvSpPr>
        <p:spPr>
          <a:xfrm>
            <a:off x="866215" y="4350657"/>
            <a:ext cx="6619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6" name="Google Shape;176;p13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3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3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 rot="-589939">
              <a:off x="8490949" y="4193579"/>
              <a:ext cx="3299413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455612" y="4241801"/>
              <a:ext cx="11277600" cy="2337160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0" name="Google Shape;190;p14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1" name="Google Shape;191;p14"/>
          <p:cNvSpPr txBox="1"/>
          <p:nvPr>
            <p:ph type="title"/>
          </p:nvPr>
        </p:nvSpPr>
        <p:spPr>
          <a:xfrm>
            <a:off x="866215" y="2370667"/>
            <a:ext cx="66192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866215" y="5033068"/>
            <a:ext cx="66192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4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866215" y="2617299"/>
            <a:ext cx="23469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2" type="body"/>
          </p:nvPr>
        </p:nvSpPr>
        <p:spPr>
          <a:xfrm>
            <a:off x="866215" y="3193561"/>
            <a:ext cx="2346900" cy="2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3" type="body"/>
          </p:nvPr>
        </p:nvSpPr>
        <p:spPr>
          <a:xfrm>
            <a:off x="3384541" y="2603502"/>
            <a:ext cx="23589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2" name="Google Shape;202;p15"/>
          <p:cNvSpPr txBox="1"/>
          <p:nvPr>
            <p:ph idx="4" type="body"/>
          </p:nvPr>
        </p:nvSpPr>
        <p:spPr>
          <a:xfrm>
            <a:off x="3384541" y="3193561"/>
            <a:ext cx="2358900" cy="2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3" name="Google Shape;203;p15"/>
          <p:cNvSpPr txBox="1"/>
          <p:nvPr>
            <p:ph idx="5" type="body"/>
          </p:nvPr>
        </p:nvSpPr>
        <p:spPr>
          <a:xfrm>
            <a:off x="5915025" y="2617299"/>
            <a:ext cx="23709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04" name="Google Shape;204;p15"/>
          <p:cNvSpPr txBox="1"/>
          <p:nvPr>
            <p:ph idx="6" type="body"/>
          </p:nvPr>
        </p:nvSpPr>
        <p:spPr>
          <a:xfrm>
            <a:off x="5915025" y="3193561"/>
            <a:ext cx="2373600" cy="2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05" name="Google Shape;205;p15"/>
          <p:cNvCxnSpPr/>
          <p:nvPr/>
        </p:nvCxnSpPr>
        <p:spPr>
          <a:xfrm>
            <a:off x="3302978" y="2569633"/>
            <a:ext cx="0" cy="34926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392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5"/>
          <p:cNvCxnSpPr/>
          <p:nvPr/>
        </p:nvCxnSpPr>
        <p:spPr>
          <a:xfrm>
            <a:off x="5829301" y="2569633"/>
            <a:ext cx="0" cy="34926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392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5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5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5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6"/>
          <p:cNvSpPr txBox="1"/>
          <p:nvPr>
            <p:ph idx="1" type="body"/>
          </p:nvPr>
        </p:nvSpPr>
        <p:spPr>
          <a:xfrm>
            <a:off x="866214" y="4532845"/>
            <a:ext cx="2287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3" name="Google Shape;213;p16"/>
          <p:cNvSpPr/>
          <p:nvPr>
            <p:ph idx="2" type="pic"/>
          </p:nvPr>
        </p:nvSpPr>
        <p:spPr>
          <a:xfrm>
            <a:off x="1000914" y="2603500"/>
            <a:ext cx="2018400" cy="1591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214" name="Google Shape;214;p16"/>
          <p:cNvSpPr txBox="1"/>
          <p:nvPr>
            <p:ph idx="3" type="body"/>
          </p:nvPr>
        </p:nvSpPr>
        <p:spPr>
          <a:xfrm>
            <a:off x="866215" y="5109107"/>
            <a:ext cx="22878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5" name="Google Shape;215;p16"/>
          <p:cNvSpPr txBox="1"/>
          <p:nvPr>
            <p:ph idx="4" type="body"/>
          </p:nvPr>
        </p:nvSpPr>
        <p:spPr>
          <a:xfrm>
            <a:off x="3429403" y="4532846"/>
            <a:ext cx="22851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6" name="Google Shape;216;p16"/>
          <p:cNvSpPr/>
          <p:nvPr>
            <p:ph idx="5" type="pic"/>
          </p:nvPr>
        </p:nvSpPr>
        <p:spPr>
          <a:xfrm>
            <a:off x="3561347" y="2603500"/>
            <a:ext cx="2018400" cy="1591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217" name="Google Shape;217;p16"/>
          <p:cNvSpPr txBox="1"/>
          <p:nvPr>
            <p:ph idx="6" type="body"/>
          </p:nvPr>
        </p:nvSpPr>
        <p:spPr>
          <a:xfrm>
            <a:off x="3426649" y="5184002"/>
            <a:ext cx="22878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8" name="Google Shape;218;p16"/>
          <p:cNvSpPr txBox="1"/>
          <p:nvPr>
            <p:ph idx="7" type="body"/>
          </p:nvPr>
        </p:nvSpPr>
        <p:spPr>
          <a:xfrm>
            <a:off x="5987576" y="4532847"/>
            <a:ext cx="22878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19" name="Google Shape;219;p16"/>
          <p:cNvSpPr/>
          <p:nvPr>
            <p:ph idx="8" type="pic"/>
          </p:nvPr>
        </p:nvSpPr>
        <p:spPr>
          <a:xfrm>
            <a:off x="6122273" y="2603500"/>
            <a:ext cx="2018400" cy="15915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220" name="Google Shape;220;p16"/>
          <p:cNvSpPr txBox="1"/>
          <p:nvPr>
            <p:ph idx="9" type="body"/>
          </p:nvPr>
        </p:nvSpPr>
        <p:spPr>
          <a:xfrm>
            <a:off x="5987576" y="5184001"/>
            <a:ext cx="22878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21" name="Google Shape;221;p16"/>
          <p:cNvCxnSpPr/>
          <p:nvPr/>
        </p:nvCxnSpPr>
        <p:spPr>
          <a:xfrm>
            <a:off x="3291115" y="2603500"/>
            <a:ext cx="0" cy="35175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6"/>
          <p:cNvCxnSpPr/>
          <p:nvPr/>
        </p:nvCxnSpPr>
        <p:spPr>
          <a:xfrm>
            <a:off x="5851429" y="2603500"/>
            <a:ext cx="0" cy="34926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6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6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6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866215" y="973668"/>
            <a:ext cx="6619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7"/>
          <p:cNvSpPr txBox="1"/>
          <p:nvPr>
            <p:ph idx="1" type="body"/>
          </p:nvPr>
        </p:nvSpPr>
        <p:spPr>
          <a:xfrm rot="5400000">
            <a:off x="2443475" y="1026100"/>
            <a:ext cx="3416400" cy="6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7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8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234" name="Google Shape;234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 rot="5101739">
              <a:off x="6294738" y="4577733"/>
              <a:ext cx="3299410" cy="44093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414867" y="402165"/>
              <a:ext cx="65109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8"/>
            <p:cNvSpPr/>
            <p:nvPr/>
          </p:nvSpPr>
          <p:spPr>
            <a:xfrm rot="5400000">
              <a:off x="4449229" y="2801723"/>
              <a:ext cx="6053675" cy="1254560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3" name="Google Shape;243;p18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4" name="Google Shape;244;p18"/>
          <p:cNvSpPr txBox="1"/>
          <p:nvPr>
            <p:ph type="title"/>
          </p:nvPr>
        </p:nvSpPr>
        <p:spPr>
          <a:xfrm rot="5400000">
            <a:off x="4588417" y="3122568"/>
            <a:ext cx="47487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8"/>
          <p:cNvSpPr txBox="1"/>
          <p:nvPr>
            <p:ph idx="1" type="body"/>
          </p:nvPr>
        </p:nvSpPr>
        <p:spPr>
          <a:xfrm rot="5400000">
            <a:off x="834675" y="1309968"/>
            <a:ext cx="4748700" cy="46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46" name="Google Shape;246;p18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8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8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2373"/>
            <a:ext cx="9144009" cy="6867027"/>
            <a:chOff x="0" y="-2373"/>
            <a:chExt cx="12192011" cy="6867027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rot="-589939">
              <a:off x="8490949" y="1797513"/>
              <a:ext cx="3299413" cy="440920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0" y="1587"/>
              <a:ext cx="12192011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" name="Google Shape;16;p1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7988204" y="6394061"/>
            <a:ext cx="74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396269" y="6391838"/>
            <a:ext cx="289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1"/>
          <p:cNvSpPr/>
          <p:nvPr/>
        </p:nvSpPr>
        <p:spPr>
          <a:xfrm>
            <a:off x="7828359" y="0"/>
            <a:ext cx="5145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7764405" y="295729"/>
            <a:ext cx="628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2000"/>
              <a:t>Q1. Retrieve customer details along with the agent's name who helped them, showing the total outstanding amount.</a:t>
            </a:r>
            <a:endParaRPr b="1" sz="2000"/>
          </a:p>
        </p:txBody>
      </p:sp>
      <p:sp>
        <p:nvSpPr>
          <p:cNvPr id="255" name="Google Shape;255;p19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t1.CUST_NAME,t1.CUST_CITY,t1.WORKING_AREA,t1.CUST_COUNTRY,t1.PHONE_NO,t1.OUTSTANDING_AMT,t2.AGENT_NAME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customer AS t1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agents AS t2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ON t1.AGENT_CODE = t2.AGENT_CODE;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2.03 PM" id="256" name="Google Shape;2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2035" y="3589655"/>
            <a:ext cx="402463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Q1 - Insights (SQL Breakdown)</a:t>
            </a:r>
            <a:endParaRPr/>
          </a:p>
        </p:txBody>
      </p:sp>
      <p:sp>
        <p:nvSpPr>
          <p:cNvPr id="262" name="Google Shape;262;p20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an INNER JOIN between customer and agents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 condition: matching AGENT_CODE in both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Selects customer details along with corresponding agent name.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Includes OUTSTANDING_AMT to show financial details per customer.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Q2. Find the agents whose total order amount exceeds 10,000.</a:t>
            </a:r>
            <a:endParaRPr b="1" sz="2000"/>
          </a:p>
        </p:txBody>
      </p:sp>
      <p:sp>
        <p:nvSpPr>
          <p:cNvPr id="268" name="Google Shape;268;p21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a.AGENT_CODE,a.AGENT_NAME,SUM(o.ORD_AMOUNT) AS TOTAL_ORDER_AMOUNT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agents AS a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orders AS o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ON a.AGENT_CODE = o.AGENT_CODE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GROUP BY a.AGENT_CODE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HAVING SUM(o.ORD_AMOUNT) &gt; 10000;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3.15 PM" id="269" name="Google Shape;2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430" y="4728845"/>
            <a:ext cx="4470400" cy="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Q2 - Insights (SQL Breakdown)</a:t>
            </a:r>
            <a:endParaRPr/>
          </a:p>
        </p:txBody>
      </p:sp>
      <p:sp>
        <p:nvSpPr>
          <p:cNvPr id="275" name="Google Shape;275;p22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Joins agents and orders tables on AGENT_CODE.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SUM(ORD_AMOUNT) to calculate total sales per agent.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Groups data by AGENT_CODE for aggregation.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HAVING clause filters agents with sales &gt; 10,000.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Q3. Find all orders placed by customers who reside in New York.</a:t>
            </a:r>
            <a:endParaRPr b="1" sz="2000"/>
          </a:p>
        </p:txBody>
      </p:sp>
      <p:sp>
        <p:nvSpPr>
          <p:cNvPr id="281" name="Google Shape;281;p23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o.ORD_NUM,o.ORD_DATE,o.ORD_AMOUNT,o.ADVANCE_AMOUNT,c.CUST_CODE,c.CUST_CITY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 o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customer c ON o.CUST_CODE = c.CUST_CODE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c.CUST_CITY = 'New York';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3.43 PM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685" y="4531995"/>
            <a:ext cx="6273800" cy="10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Q3 - Insights (SQL Breakdown)</a:t>
            </a:r>
            <a:endParaRPr/>
          </a:p>
        </p:txBody>
      </p:sp>
      <p:sp>
        <p:nvSpPr>
          <p:cNvPr id="288" name="Google Shape;288;p24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Performs INNER JOIN between orders and customer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 condition: matching CUST_CODE in both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Filters results with WHERE clause on CUST_CITY = 'New York'.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Selects order details specifically for New York customers.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Q4. Retrieve customer details along with the agent's name who helped them.</a:t>
            </a:r>
            <a:endParaRPr b="1" sz="2000"/>
          </a:p>
        </p:txBody>
      </p:sp>
      <p:sp>
        <p:nvSpPr>
          <p:cNvPr id="294" name="Google Shape;294;p25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c.CUST_CODE,c.CUST_NAME,a.AGENT_CODE,a.AGENT_NAME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customer c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agents a ON c.AGENT_CODE = a.AGENT_CODE;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4.06 PM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8275" y="3441700"/>
            <a:ext cx="2797810" cy="3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Q4 - Insights (SQL Breakdown)</a:t>
            </a:r>
            <a:endParaRPr/>
          </a:p>
        </p:txBody>
      </p:sp>
      <p:sp>
        <p:nvSpPr>
          <p:cNvPr id="301" name="Google Shape;301;p26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an INNER JOIN between customer and agents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 condition: matching AGENT_CODE between the two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Selects customer code and name with agent code and name.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Shows direct link between each customer and their agent.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Q5. Find the total number of orders handled by each agent.</a:t>
            </a:r>
            <a:endParaRPr b="1" sz="2000"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AGENT_CODE,COUNT(ORD_NUM) AS Total_Orders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GROUP BY AGENT_CODE;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5.30 PM" id="308" name="Google Shape;3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6325" y="3289300"/>
            <a:ext cx="2095500" cy="2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Q5 - Insights (SQL Breakdown)</a:t>
            </a:r>
            <a:endParaRPr/>
          </a:p>
        </p:txBody>
      </p:sp>
      <p:sp>
        <p:nvSpPr>
          <p:cNvPr id="314" name="Google Shape;314;p28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Queries the orders table only.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Counts number of orders (ORD_NUM) handled by each agent.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Groups results by AGENT_CODE.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Displays workload of each agent in terms of orders handled.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2000"/>
              <a:t>Q6. Get the list of customers who placed an order with an advance amount greater than or equal to 50% of the order amount.</a:t>
            </a:r>
            <a:endParaRPr b="1" sz="2000"/>
          </a:p>
        </p:txBody>
      </p:sp>
      <p:sp>
        <p:nvSpPr>
          <p:cNvPr id="320" name="Google Shape;320;p29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c.CUST_CODE,c.CUST_NAME,o.ORD_NUM,o.ORD_AMOUNT,o.ADVANCE_AMOUNT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customer c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orders o ON c.CUST_CODE = o.CUST_CODE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o.ADVANCE_AMOUNT &gt;= 0.5 * o.ORD_AMOUNT;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5.53 PM" id="321" name="Google Shape;3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385" y="4488180"/>
            <a:ext cx="5245100" cy="8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Q6 - Insights (SQL Breakdown)</a:t>
            </a:r>
            <a:endParaRPr/>
          </a:p>
        </p:txBody>
      </p:sp>
      <p:sp>
        <p:nvSpPr>
          <p:cNvPr id="327" name="Google Shape;327;p30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Joins customer and orders tables using CUST_CODE.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Applies condition on ADVANCE_AMOUNT &gt;= 50% of ORD_AMOUNT.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Retrieves details of customers and their qualifying orders.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Highlights customers who paid large advances upfront.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Q7. Find the number of customers in each city and the total outstanding amount for each city.</a:t>
            </a:r>
            <a:endParaRPr b="1" sz="2000"/>
          </a:p>
        </p:txBody>
      </p:sp>
      <p:sp>
        <p:nvSpPr>
          <p:cNvPr id="333" name="Google Shape;333;p31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CUST_CITY,COUNT(CUST_CODE) AS total_customer,SUM(OUTSTANDING_AMT) AS total_outstanding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customer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GROUP BY CUST_CITY;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4.57.58 PM"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4130" y="3695065"/>
            <a:ext cx="3175000" cy="22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Q7 - Insights (SQL Breakdown)</a:t>
            </a:r>
            <a:endParaRPr/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Groups customer data by CUST_CITY.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Counts number of customers in each city.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Calculates total outstanding amount per city.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Useful for city-wise customer and financial distribution.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2000"/>
              <a:t>Q8. List all customers along with their orders, including customers who have not placed any orders.</a:t>
            </a:r>
            <a:endParaRPr b="1" sz="2000"/>
          </a:p>
        </p:txBody>
      </p:sp>
      <p:sp>
        <p:nvSpPr>
          <p:cNvPr id="346" name="Google Shape;346;p33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c.CUST_CODE,c.CUST_NAME,o.ORD_NUM,o.ORD_AMOUNT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Customer c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LEFT JOIN Orders o ON c.CUST_CODE = o.CUST_CODE;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00.34 PM" id="347" name="Google Shape;3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550" y="2884170"/>
            <a:ext cx="2891790" cy="3973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Q8 - Insights (SQL Breakdown)</a:t>
            </a:r>
            <a:endParaRPr/>
          </a:p>
        </p:txBody>
      </p:sp>
      <p:sp>
        <p:nvSpPr>
          <p:cNvPr id="353" name="Google Shape;353;p34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LEFT JOIN between customer and orders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Ensures all customers are included, even without orders.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 condition: matching CUST_CODE in both tables.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Displays order details where available, otherwise NULL.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Q9. Find the customer who placed the highest order amount using a subquery.</a:t>
            </a:r>
            <a:endParaRPr b="1" sz="2000"/>
          </a:p>
        </p:txBody>
      </p:sp>
      <p:sp>
        <p:nvSpPr>
          <p:cNvPr id="359" name="Google Shape;359;p35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c.CUST_NAME,c.CUST_CODE,o.ORD_NUM,o.ORD_AMOUNT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 as o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customer as c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ON o.CUST_CODE=c.CUST_CODE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ORD_AMOUNT = (SELECT MAX(ORD_AMOUNT) FROM Orders);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05.19 PM" id="360" name="Google Shape;3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125" y="4368800"/>
            <a:ext cx="35433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Q9 - Insights (SQL Breakdown)</a:t>
            </a:r>
            <a:endParaRPr/>
          </a:p>
        </p:txBody>
      </p:sp>
      <p:sp>
        <p:nvSpPr>
          <p:cNvPr id="366" name="Google Shape;366;p36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a subquery to find MAX(ORD_AMOUNT).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Joins orders with customer table using CUST_CODE.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Filters records where order amount matches the maximum.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Displays customer and order details of the highest order.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Q10. Find the total order amount for customers who have placed more than 2 orders using a subquery.</a:t>
            </a:r>
            <a:endParaRPr b="1" sz="2000"/>
          </a:p>
        </p:txBody>
      </p:sp>
      <p:sp>
        <p:nvSpPr>
          <p:cNvPr id="372" name="Google Shape;372;p37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CUST_CODE, SUM(ORD_AMOUNT) AS TotalAmount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CUST_CODE IN (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    SELECT CUST_CODE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    FROM 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    GROUP BY CUST_CODE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    HAVING COUNT(ORD_NUM) &gt; 2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GROUP BY CUST_CODE;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Font typeface="Consolas"/>
              <a:buChar char="►"/>
            </a:pPr>
            <a:r>
              <a:t/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05.51 PM" id="373" name="Google Shape;37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7730" y="3429010"/>
            <a:ext cx="20066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Q10 - Insights (SQL Breakdown)</a:t>
            </a:r>
            <a:endParaRPr/>
          </a:p>
        </p:txBody>
      </p:sp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866225" y="2299025"/>
            <a:ext cx="6571200" cy="4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"/>
              <a:buNone/>
            </a:pPr>
            <a:r>
              <a:t/>
            </a:r>
            <a:endParaRPr sz="72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US" sz="7200">
                <a:solidFill>
                  <a:schemeClr val="dk1"/>
                </a:solidFill>
              </a:rPr>
              <a:t>Subquery with GROUP BY &amp; HAVING → The subquery groups orders by </a:t>
            </a:r>
            <a:r>
              <a:rPr lang="en-US" sz="7200">
                <a:solidFill>
                  <a:srgbClr val="188038"/>
                </a:solidFill>
              </a:rPr>
              <a:t>CUST_CODE</a:t>
            </a:r>
            <a:r>
              <a:rPr lang="en-US" sz="7200">
                <a:solidFill>
                  <a:schemeClr val="dk1"/>
                </a:solidFill>
              </a:rPr>
              <a:t> and selects only those customers who have placed more than 2 orders.</a:t>
            </a:r>
            <a:br>
              <a:rPr lang="en-US" sz="7200">
                <a:solidFill>
                  <a:schemeClr val="dk1"/>
                </a:solidFill>
              </a:rPr>
            </a:b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US" sz="7200">
                <a:solidFill>
                  <a:schemeClr val="dk1"/>
                </a:solidFill>
              </a:rPr>
              <a:t>IN condition → The main query filters only those </a:t>
            </a:r>
            <a:r>
              <a:rPr lang="en-US" sz="7200">
                <a:solidFill>
                  <a:srgbClr val="188038"/>
                </a:solidFill>
              </a:rPr>
              <a:t>CUST_CODE</a:t>
            </a:r>
            <a:r>
              <a:rPr lang="en-US" sz="7200">
                <a:solidFill>
                  <a:schemeClr val="dk1"/>
                </a:solidFill>
              </a:rPr>
              <a:t>s that appear in the subquery result (i.e., customers with &gt;2 orders).</a:t>
            </a:r>
            <a:br>
              <a:rPr lang="en-US" sz="7200">
                <a:solidFill>
                  <a:schemeClr val="dk1"/>
                </a:solidFill>
              </a:rPr>
            </a:b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US" sz="7200">
                <a:solidFill>
                  <a:schemeClr val="dk1"/>
                </a:solidFill>
              </a:rPr>
              <a:t>SUM aggregation → For each selected customer, the query calculates the total order amount using </a:t>
            </a:r>
            <a:r>
              <a:rPr lang="en-US" sz="7200">
                <a:solidFill>
                  <a:srgbClr val="188038"/>
                </a:solidFill>
              </a:rPr>
              <a:t>SUM(ORD_AMOUNT)</a:t>
            </a:r>
            <a:r>
              <a:rPr lang="en-US" sz="7200">
                <a:solidFill>
                  <a:schemeClr val="dk1"/>
                </a:solidFill>
              </a:rPr>
              <a:t>.</a:t>
            </a:r>
            <a:br>
              <a:rPr lang="en-US" sz="7200">
                <a:solidFill>
                  <a:schemeClr val="dk1"/>
                </a:solidFill>
              </a:rPr>
            </a:br>
            <a:endParaRPr sz="7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►"/>
            </a:pPr>
            <a:r>
              <a:rPr lang="en-US" sz="7200">
                <a:solidFill>
                  <a:schemeClr val="dk1"/>
                </a:solidFill>
              </a:rPr>
              <a:t>Final result → The output gives a list of customers (CUST_CODE) along with their cumulative order amount, but only for those who are frequent buyers (more than 2 orders).</a:t>
            </a:r>
            <a:endParaRPr sz="7200">
              <a:solidFill>
                <a:schemeClr val="dk1"/>
              </a:solidFill>
            </a:endParaRPr>
          </a:p>
          <a:p>
            <a:pPr indent="-251459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Q11. List the orders placed in the month of May 2008.</a:t>
            </a:r>
            <a:endParaRPr b="1" sz="2000"/>
          </a:p>
        </p:txBody>
      </p:sp>
      <p:sp>
        <p:nvSpPr>
          <p:cNvPr id="385" name="Google Shape;385;p39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ORD_DATE BETWEEN '2008-05-01' AND '2008-05-31';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06.20 PM" id="386" name="Google Shape;3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950" y="4007485"/>
            <a:ext cx="7912100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Q11 - Insights (SQL Breakdown)</a:t>
            </a:r>
            <a:endParaRPr/>
          </a:p>
        </p:txBody>
      </p:sp>
      <p:sp>
        <p:nvSpPr>
          <p:cNvPr id="392" name="Google Shape;392;p40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Queries orders table directly.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WHERE clause with date range filter.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Retrieves orders placed between '2008-05-01' and '2008-05-31'.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Focuses only on May 2008 order data.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Q12. List orders where the amount is greater than 1000 or the order date is before '2008-12-31'.</a:t>
            </a:r>
            <a:endParaRPr b="1" sz="2000"/>
          </a:p>
        </p:txBody>
      </p:sp>
      <p:sp>
        <p:nvSpPr>
          <p:cNvPr id="398" name="Google Shape;398;p41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ORD_AMOUNT &gt; 1000 OR ORD_DATE &lt; '2008-12-31';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06.52 PM" id="399" name="Google Shape;39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0550" y="3409950"/>
            <a:ext cx="4855845" cy="3266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Q12 - Insights (SQL Breakdown)</a:t>
            </a:r>
            <a:endParaRPr/>
          </a:p>
        </p:txBody>
      </p:sp>
      <p:sp>
        <p:nvSpPr>
          <p:cNvPr id="405" name="Google Shape;405;p42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Queries orders table directly.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WHERE clause with OR condition.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Filters orders with amount &gt; 1000 or date &lt; '2008-12-31'.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Covers two different filtering scenarios in one query.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Q13. Find all orders placed by customers in 'New York' or whose order amount is greater than 5000.</a:t>
            </a:r>
            <a:endParaRPr b="1" sz="2000"/>
          </a:p>
        </p:txBody>
      </p:sp>
      <p:sp>
        <p:nvSpPr>
          <p:cNvPr id="411" name="Google Shape;411;p43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o.*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 o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JOIN Customer c ON o.CUST_CODE = c.CUST_CODE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c.CUST_CITY = 'New York' OR o.ORD_AMOUNT &gt; 5000;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09.09 PM" id="412" name="Google Shape;4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140" y="4225925"/>
            <a:ext cx="7912100" cy="9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Q13 - Insights (SQL Breakdown)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Joins orders and customer tables using CUST_CODE.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WHERE clause with OR condition.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Retrieves orders for customers in 'New York' OR with ORD_AMOUNT &gt; 5000.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Shows flexibility with multiple filter conditions.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5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2000"/>
              <a:t>Q14. Find the agents who have handled orders for more than 3 distinct customers.</a:t>
            </a:r>
            <a:endParaRPr b="1" sz="2000"/>
          </a:p>
        </p:txBody>
      </p:sp>
      <p:sp>
        <p:nvSpPr>
          <p:cNvPr id="424" name="Google Shape;424;p45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AGENT_CODE,COUNT(DISTINCT CUST_CODE) AS CustomersHandled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GROUP BY AGENT_CODE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HAVING COUNT(DISTINCT CUST_CODE) &gt; 3;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11.43 PM" id="425" name="Google Shape;4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730" y="4465955"/>
            <a:ext cx="2463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6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Q14 - Insights (SQL Breakdown)</a:t>
            </a:r>
            <a:endParaRPr/>
          </a:p>
        </p:txBody>
      </p:sp>
      <p:sp>
        <p:nvSpPr>
          <p:cNvPr id="431" name="Google Shape;431;p46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Groups orders by AGENT_CODE.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Uses COUNT(DISTINCT CUST_CODE) to count unique customers.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HAVING clause filters agents with more than 3 customers.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Identifies agents with wider customer coverage.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7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2000"/>
              <a:t>Q15. Find customers who have made at least one payment but still have an outstanding amount greater than 7000.</a:t>
            </a:r>
            <a:endParaRPr b="1" sz="2000"/>
          </a:p>
        </p:txBody>
      </p:sp>
      <p:sp>
        <p:nvSpPr>
          <p:cNvPr id="437" name="Google Shape;437;p47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SELECT c.CUST_CODE,c.CUST_NAME,c.PAYMENT_AMT,c.OUTSTANDING_AMT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FROM Customer c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467F"/>
              </a:buClr>
              <a:buSzPts val="1400"/>
              <a:buChar char="►"/>
            </a:pPr>
            <a:r>
              <a:rPr lang="en-US" sz="1400">
                <a:solidFill>
                  <a:srgbClr val="00467F"/>
                </a:solidFill>
                <a:latin typeface="Consolas"/>
                <a:ea typeface="Consolas"/>
                <a:cs typeface="Consolas"/>
                <a:sym typeface="Consolas"/>
              </a:rPr>
              <a:t>WHERE c.PAYMENT_AMT &gt; 0 AND c.OUTSTANDING_AMT &gt; 7000;</a:t>
            </a:r>
            <a:endParaRPr sz="1400">
              <a:solidFill>
                <a:srgbClr val="0046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reenshot 2025-09-08 at 5.12.39 PM" id="438" name="Google Shape;43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280" y="3879215"/>
            <a:ext cx="4044315" cy="271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"/>
          <p:cNvSpPr txBox="1"/>
          <p:nvPr>
            <p:ph type="title"/>
          </p:nvPr>
        </p:nvSpPr>
        <p:spPr>
          <a:xfrm>
            <a:off x="866215" y="973668"/>
            <a:ext cx="6571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Q15 - Insights (SQL Breakdown)</a:t>
            </a:r>
            <a:endParaRPr/>
          </a:p>
        </p:txBody>
      </p:sp>
      <p:sp>
        <p:nvSpPr>
          <p:cNvPr id="444" name="Google Shape;444;p48"/>
          <p:cNvSpPr txBox="1"/>
          <p:nvPr>
            <p:ph idx="1" type="body"/>
          </p:nvPr>
        </p:nvSpPr>
        <p:spPr>
          <a:xfrm>
            <a:off x="866216" y="2603500"/>
            <a:ext cx="657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Queries customer table directly.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Applies condition where PAYMENT_AMT &gt; 0 (at least one payment).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Adds condition where OUTSTANDING_AMT &gt; 7000.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Finds customers still owing large balances despite payments.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